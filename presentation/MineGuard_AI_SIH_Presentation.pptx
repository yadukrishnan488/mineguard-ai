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540"/>
                </a:solidFill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430"/>
                </a:solidFill>
              </a:defRPr>
            </a:pPr>
            <a:r>
              <a:t>TITLE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/>
          <a:lstStyle/>
          <a:p>
            <a:pPr algn="ctr">
              <a:spcAft>
                <a:spcPts val="800"/>
              </a:spcAft>
            </a:pPr>
            <a:r>
              <a:rPr b="1">
                <a:solidFill>
                  <a:srgbClr val="B8860B"/>
                </a:solidFill>
              </a:rPr>
              <a:t>• </a:t>
            </a:r>
            <a:r>
              <a:rPr b="1" sz="1300">
                <a:solidFill>
                  <a:srgbClr val="0A2540"/>
                </a:solidFill>
              </a:rPr>
              <a:t>Problem Statement ID: </a:t>
            </a:r>
            <a:r>
              <a:rPr sz="1300">
                <a:solidFill>
                  <a:srgbClr val="1B2430"/>
                </a:solidFill>
              </a:rPr>
              <a:t>SIH1608 / Ministry of Coal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8860B"/>
                </a:solidFill>
              </a:rPr>
              <a:t>• </a:t>
            </a:r>
            <a:r>
              <a:rPr b="1" sz="1300">
                <a:solidFill>
                  <a:srgbClr val="0A2540"/>
                </a:solidFill>
              </a:rPr>
              <a:t>Problem Statement Title: </a:t>
            </a:r>
            <a:r>
              <a:rPr sz="1300" b="1">
                <a:solidFill>
                  <a:srgbClr val="1B2430"/>
                </a:solidFill>
              </a:rPr>
              <a:t>AI-Based Smart Governance &amp; Statutory Compliance Monitoring System for Coal Mines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8860B"/>
                </a:solidFill>
              </a:rPr>
              <a:t>• </a:t>
            </a:r>
            <a:r>
              <a:rPr b="1" sz="1300">
                <a:solidFill>
                  <a:srgbClr val="0A2540"/>
                </a:solidFill>
              </a:rPr>
              <a:t>System Code Name: </a:t>
            </a:r>
            <a:r>
              <a:rPr sz="1300" b="1">
                <a:solidFill>
                  <a:srgbClr val="1B2430"/>
                </a:solidFill>
              </a:rPr>
              <a:t>MineGuard AI / KhanRakshak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8860B"/>
                </a:solidFill>
              </a:rPr>
              <a:t>• </a:t>
            </a:r>
            <a:r>
              <a:rPr b="1" sz="1300">
                <a:solidFill>
                  <a:srgbClr val="0A2540"/>
                </a:solidFill>
              </a:rPr>
              <a:t>Theme: </a:t>
            </a:r>
            <a:r>
              <a:rPr sz="1300">
                <a:solidFill>
                  <a:srgbClr val="1B2430"/>
                </a:solidFill>
              </a:rPr>
              <a:t>Smart Automation, Mining Safety &amp; Clean Governance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8860B"/>
                </a:solidFill>
              </a:rPr>
              <a:t>• </a:t>
            </a:r>
            <a:r>
              <a:rPr b="1" sz="1300">
                <a:solidFill>
                  <a:srgbClr val="0A2540"/>
                </a:solidFill>
              </a:rPr>
              <a:t>PS Category: </a:t>
            </a:r>
            <a:r>
              <a:rPr sz="1300">
                <a:solidFill>
                  <a:srgbClr val="1B2430"/>
                </a:solidFill>
              </a:rPr>
              <a:t>Software Edition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8860B"/>
                </a:solidFill>
              </a:rPr>
              <a:t>• </a:t>
            </a:r>
            <a:r>
              <a:rPr b="1" sz="1300">
                <a:solidFill>
                  <a:srgbClr val="0A2540"/>
                </a:solidFill>
              </a:rPr>
              <a:t>Target Ministry: </a:t>
            </a:r>
            <a:r>
              <a:rPr sz="1300">
                <a:solidFill>
                  <a:srgbClr val="1B2430"/>
                </a:solidFill>
              </a:rPr>
              <a:t>Ministry of Coal, Government of India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8860B"/>
                </a:solidFill>
              </a:rPr>
              <a:t>• </a:t>
            </a:r>
            <a:r>
              <a:rPr b="1" sz="1300">
                <a:solidFill>
                  <a:srgbClr val="0A2540"/>
                </a:solidFill>
              </a:rPr>
              <a:t>Team ID: </a:t>
            </a:r>
            <a:r>
              <a:rPr sz="1300">
                <a:solidFill>
                  <a:srgbClr val="1B2430"/>
                </a:solidFill>
              </a:rPr>
              <a:t>[Your Team ID]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B8860B"/>
                </a:solidFill>
              </a:rPr>
              <a:t>• </a:t>
            </a:r>
            <a:r>
              <a:rPr b="1" sz="1300">
                <a:solidFill>
                  <a:srgbClr val="0A2540"/>
                </a:solidFill>
              </a:rPr>
              <a:t>Team Name: </a:t>
            </a:r>
            <a:r>
              <a:rPr sz="1300">
                <a:solidFill>
                  <a:srgbClr val="1B2430"/>
                </a:solidFill>
              </a:rPr>
              <a:t>Team Valos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91640"/>
            <a:ext cx="4206240" cy="4389120"/>
          </a:xfrm>
          <a:prstGeom prst="roundRect">
            <a:avLst/>
          </a:prstGeom>
          <a:solidFill>
            <a:srgbClr val="0A2540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65760"/>
          <a:lstStyle/>
          <a:p>
            <a:pPr algn="ctr">
              <a:defRPr sz="2200" b="1">
                <a:solidFill>
                  <a:srgbClr val="E8C874"/>
                </a:solidFill>
              </a:defRPr>
            </a:pPr>
            <a:r>
              <a:t>🏛️ KHANRAKSHAK</a:t>
            </a:r>
          </a:p>
          <a:p>
            <a:pPr algn="ctr">
              <a:spcAft>
                <a:spcPts val="1400"/>
              </a:spcAft>
              <a:defRPr sz="1200">
                <a:solidFill>
                  <a:srgbClr val="FFFFFF"/>
                </a:solidFill>
              </a:defRPr>
            </a:pPr>
            <a:r>
              <a:t>Ministry of Coal, Government of India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✓ 22 Normalized Database Models with PostGIS Geofencing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✓ Cryptographic SHA-256 Hash Chain Immutable Audit Trail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✓ 5-Factor Explainable AI Risk Scoring Engine (scikit-learn)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✓ Resilient Offline-First Mobile Inspection Synchronization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✓ Confidential Worker Grievance Redressal Pipeline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✓ Tesseract OCR Pipeline for Mining Leases &amp; Certificates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✓ Sentinel-1 InSAR Satellite Subsidence Geolocation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FFFFFF"/>
          </a:solidFill>
          <a:ln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27187" y="0"/>
            <a:ext cx="4064508" cy="54864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01168"/>
            <a:ext cx="118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Team</a:t>
            </a:r>
            <a:br/>
            <a:r>
              <a:t>Team Valos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288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2540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875520" y="16459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A2540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B8860B"/>
                </a:solidFill>
              </a:defRPr>
            </a:pPr>
            <a:r>
              <a:t>HACKATHON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3A5E"/>
          </a:solidFill>
          <a:ln>
            <a:solidFill>
              <a:srgbClr val="1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8C874"/>
                </a:solidFill>
              </a:defRPr>
            </a:pPr>
            <a:r>
              <a:t>@SIH Idea submission - Ministry of Coal | MineGuard AI (KhanRakshak)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FFFFFF"/>
          </a:solidFill>
          <a:ln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54864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01168"/>
            <a:ext cx="118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Team</a:t>
            </a:r>
            <a:br/>
            <a:r>
              <a:t>Team Valos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2540"/>
                </a:solidFill>
              </a:defRPr>
            </a:pPr>
            <a:r>
              <a:t>IDEA TITLE: MineGuard AI (KhanRakshak)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A2540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B8860B"/>
                </a:solidFill>
              </a:defRPr>
            </a:pPr>
            <a:r>
              <a:t>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3A5E"/>
          </a:solidFill>
          <a:ln>
            <a:solidFill>
              <a:srgbClr val="1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8C874"/>
                </a:solidFill>
              </a:defRPr>
            </a:pPr>
            <a:r>
              <a:t>@SIH Idea submission - Ministry of Coal | MineGuard AI (KhanRakshak)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B6673"/>
                </a:solidFill>
              </a:defRPr>
            </a:pPr>
            <a:r>
              <a:t>AI-Powered Statutory Governance, PostGIS Spatial Geofencing &amp; Immutable Compliance System for Coal Mines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Core Solution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69164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[1] PostGIS Spatial &amp; Boundary Geofencing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Maps live pit boundaries and geo-tagged observations against approved DGMS lease coordinates to detect illegal peripheral extraction.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[2] Multi-Factor Explainable AI Risk Scoring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Transparent 0–100 risk rating evaluating unresolved safety citations, overdue corrective actions, and night-shift anomalies.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[3] Resilient Offline Mobile Synchronization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Enables field inspectors deep in opencast pits and underground seams to collect audits offline with idempotency keys.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20640"/>
            <a:ext cx="3931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[4] Confidential Worker Grievance Redressal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Empowers colliery labourers to lodge safety and wage complaints with automated tracking IDs (MG-GRV) and strict privacy.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691640"/>
            <a:ext cx="3108960" cy="4572000"/>
          </a:xfrm>
          <a:prstGeom prst="roundRect">
            <a:avLst/>
          </a:prstGeom>
          <a:solidFill>
            <a:srgbClr val="F8F6F0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0A2540"/>
                </a:solidFill>
              </a:defRPr>
            </a:pPr>
            <a:r>
              <a:t>Operational Flow Engine</a:t>
            </a:r>
          </a:p>
          <a:p>
            <a:pPr>
              <a:defRPr b="1" sz="1100">
                <a:solidFill>
                  <a:srgbClr val="123A5E"/>
                </a:solidFill>
              </a:defRPr>
            </a:pPr>
            <a:r>
              <a:t>👷 Field Input</a:t>
            </a:r>
          </a:p>
          <a:p>
            <a:pPr>
              <a:spcAft>
                <a:spcPts val="600"/>
              </a:spcAft>
              <a:defRPr sz="950">
                <a:solidFill>
                  <a:srgbClr val="5B6673"/>
                </a:solidFill>
              </a:defRPr>
            </a:pPr>
            <a:r>
              <a:t>Inspectors &amp; workers capture offline audits, photos, and grievances.</a:t>
            </a:r>
          </a:p>
          <a:p>
            <a:pPr>
              <a:defRPr b="1" sz="1100">
                <a:solidFill>
                  <a:srgbClr val="123A5E"/>
                </a:solidFill>
              </a:defRPr>
            </a:pPr>
            <a:r>
              <a:t>🔄 Gateway Sync</a:t>
            </a:r>
          </a:p>
          <a:p>
            <a:pPr>
              <a:spcAft>
                <a:spcPts val="600"/>
              </a:spcAft>
              <a:defRPr sz="950">
                <a:solidFill>
                  <a:srgbClr val="5B6673"/>
                </a:solidFill>
              </a:defRPr>
            </a:pPr>
            <a:r>
              <a:t>FastAPI validates idempotency keys &amp; prevents duplicate submissions.</a:t>
            </a:r>
          </a:p>
          <a:p>
            <a:pPr>
              <a:defRPr b="1" sz="1100">
                <a:solidFill>
                  <a:srgbClr val="123A5E"/>
                </a:solidFill>
              </a:defRPr>
            </a:pPr>
            <a:r>
              <a:t>🧠 Cloud AI Core</a:t>
            </a:r>
          </a:p>
          <a:p>
            <a:pPr>
              <a:spcAft>
                <a:spcPts val="600"/>
              </a:spcAft>
              <a:defRPr sz="950">
                <a:solidFill>
                  <a:srgbClr val="5B6673"/>
                </a:solidFill>
              </a:defRPr>
            </a:pPr>
            <a:r>
              <a:t>scikit-learn scores risk; PostGIS checks lease boundaries.</a:t>
            </a:r>
          </a:p>
          <a:p>
            <a:pPr>
              <a:defRPr b="1" sz="1100">
                <a:solidFill>
                  <a:srgbClr val="123A5E"/>
                </a:solidFill>
              </a:defRPr>
            </a:pPr>
            <a:r>
              <a:t>🔗 Audit Chain</a:t>
            </a:r>
          </a:p>
          <a:p>
            <a:pPr>
              <a:spcAft>
                <a:spcPts val="600"/>
              </a:spcAft>
              <a:defRPr sz="950">
                <a:solidFill>
                  <a:srgbClr val="5B6673"/>
                </a:solidFill>
              </a:defRPr>
            </a:pPr>
            <a:r>
              <a:t>Every action hashed into SHA-256 cryptographic chain.</a:t>
            </a:r>
          </a:p>
          <a:p>
            <a:pPr>
              <a:defRPr b="1" sz="1100">
                <a:solidFill>
                  <a:srgbClr val="123A5E"/>
                </a:solidFill>
              </a:defRPr>
            </a:pPr>
            <a:r>
              <a:t>📊 Role Dashboards</a:t>
            </a:r>
          </a:p>
          <a:p>
            <a:pPr>
              <a:spcAft>
                <a:spcPts val="600"/>
              </a:spcAft>
              <a:defRPr sz="950">
                <a:solidFill>
                  <a:srgbClr val="5B6673"/>
                </a:solidFill>
              </a:defRPr>
            </a:pPr>
            <a:r>
              <a:t>Dispatches real-time alerts to Managers, CIL HQ, and DGMS.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2801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Innovation &amp; Uniqueness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691640"/>
            <a:ext cx="3657600" cy="1417320"/>
          </a:xfrm>
          <a:prstGeom prst="roundRect">
            <a:avLst/>
          </a:prstGeom>
          <a:solidFill>
            <a:srgbClr val="123A5E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E8C874"/>
                </a:solidFill>
              </a:defRPr>
            </a:pPr>
            <a:r>
              <a:t>Unified Mining Nervous System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First-of-its-kind integration connecting DGMS statutory safety rules, remote sensing InSAR satellite analysis, and worker grievance tracking in one single platform.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227832"/>
            <a:ext cx="3657600" cy="1417320"/>
          </a:xfrm>
          <a:prstGeom prst="roundRect">
            <a:avLst/>
          </a:prstGeom>
          <a:solidFill>
            <a:srgbClr val="123A5E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E8C874"/>
                </a:solidFill>
              </a:defRPr>
            </a:pPr>
            <a:r>
              <a:t>Cryptographic SHA-256 Audit Trail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Replaces vulnerable paper logs with an append-only cryptographic hash chain in PostgreSQL, guaranteeing mathematical proof of zero tampering for regulatory audits.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764024"/>
            <a:ext cx="3657600" cy="1417320"/>
          </a:xfrm>
          <a:prstGeom prst="roundRect">
            <a:avLst/>
          </a:prstGeom>
          <a:solidFill>
            <a:srgbClr val="123A5E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50" b="1">
                <a:solidFill>
                  <a:srgbClr val="E8C874"/>
                </a:solidFill>
              </a:defRPr>
            </a:pPr>
            <a:r>
              <a:t>Explainable AI with Prescriptive Remediation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Unlike black-box models, returns weighted risk dimensions (30% safety, 25% actions, 20% deadlines, 15% recurring, 10% history) with automated corrective action tickets.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FFFFFF"/>
          </a:solidFill>
          <a:ln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54864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01168"/>
            <a:ext cx="118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Team</a:t>
            </a:r>
            <a:br/>
            <a:r>
              <a:t>Team Valos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2540"/>
                </a:solidFill>
              </a:defRPr>
            </a:pPr>
            <a: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A2540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B8860B"/>
                </a:solidFill>
              </a:defRPr>
            </a:pPr>
            <a:r>
              <a:t>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3A5E"/>
          </a:solidFill>
          <a:ln>
            <a:solidFill>
              <a:srgbClr val="1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8C874"/>
                </a:solidFill>
              </a:defRPr>
            </a:pPr>
            <a:r>
              <a:t>@SIH Idea submission - Ministry of Coal | MineGuard AI (KhanRakshak)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Technology Stack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438912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API &amp; Gateway: </a:t>
            </a:r>
            <a:r>
              <a:rPr sz="1050">
                <a:solidFill>
                  <a:srgbClr val="1B2430"/>
                </a:solidFill>
              </a:rPr>
              <a:t>FastAPI, Python 3.12+, Uvicorn, RESTful /api/v1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Primary Database: </a:t>
            </a:r>
            <a:r>
              <a:rPr sz="1050">
                <a:solidFill>
                  <a:srgbClr val="1B2430"/>
                </a:solidFill>
              </a:rPr>
              <a:t>PostgreSQL 16 + PostGIS 3.4 Spatial Indexing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Dev &amp; Emulation DB: </a:t>
            </a:r>
            <a:r>
              <a:rPr sz="1050">
                <a:solidFill>
                  <a:srgbClr val="1B2430"/>
                </a:solidFill>
              </a:rPr>
              <a:t>SQLite Dual-Dialect (Zero-config local testing)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Object Relational ORM: </a:t>
            </a:r>
            <a:r>
              <a:rPr sz="1050">
                <a:solidFill>
                  <a:srgbClr val="1B2430"/>
                </a:solidFill>
              </a:rPr>
              <a:t>SQLAlchemy 2.0 &amp; GeoAlchemy2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Validation &amp; Settings: </a:t>
            </a:r>
            <a:r>
              <a:rPr sz="1050">
                <a:solidFill>
                  <a:srgbClr val="1B2430"/>
                </a:solidFill>
              </a:rPr>
              <a:t>Pydantic v2 &amp; Pydantic-Settings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Security &amp; Auth: </a:t>
            </a:r>
            <a:r>
              <a:rPr sz="1050">
                <a:solidFill>
                  <a:srgbClr val="1B2430"/>
                </a:solidFill>
              </a:rPr>
              <a:t>JWT, Argon2/Bcrypt hashing, Refresh Token Rotation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AI / ML Risk Scoring: </a:t>
            </a:r>
            <a:r>
              <a:rPr sz="1050">
                <a:solidFill>
                  <a:srgbClr val="1B2430"/>
                </a:solidFill>
              </a:rPr>
              <a:t>scikit-learn, NumPy, Multi-Factor Weighted Engine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Computer Vision &amp; OCR: </a:t>
            </a:r>
            <a:r>
              <a:rPr sz="1050">
                <a:solidFill>
                  <a:srgbClr val="1B2430"/>
                </a:solidFill>
              </a:rPr>
              <a:t>Tesseract OCR &amp; Pillow for Document Ingestion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Remote Sensing GIS: </a:t>
            </a:r>
            <a:r>
              <a:rPr sz="1050">
                <a:solidFill>
                  <a:srgbClr val="1B2430"/>
                </a:solidFill>
              </a:rPr>
              <a:t>Sentinel-1 InSAR &amp; Google Earth Engine Interface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Frontend &amp; Portal: </a:t>
            </a:r>
            <a:r>
              <a:rPr sz="1050">
                <a:solidFill>
                  <a:srgbClr val="1B2430"/>
                </a:solidFill>
              </a:rPr>
              <a:t>Interactive HTML5/JS Web Portal &amp; Next.js/React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0515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End-to-End Operational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1463040"/>
            <a:ext cx="438912" cy="438912"/>
          </a:xfrm>
          <a:prstGeom prst="ellipse">
            <a:avLst/>
          </a:prstGeom>
          <a:solidFill>
            <a:srgbClr val="0A2540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C874"/>
                </a:solidFill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38988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A5E"/>
                </a:solidFill>
              </a:defRPr>
            </a:pPr>
            <a:r>
              <a:t>Field Data Collection — </a:t>
            </a:r>
            <a:r>
              <a:rPr sz="1000">
                <a:solidFill>
                  <a:srgbClr val="1B2430"/>
                </a:solidFill>
              </a:rPr>
              <a:t>Mobile app captures inspections, geo-tagged hazard photos, and worker grievances.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2057400"/>
            <a:ext cx="438912" cy="438912"/>
          </a:xfrm>
          <a:prstGeom prst="ellipse">
            <a:avLst/>
          </a:prstGeom>
          <a:solidFill>
            <a:srgbClr val="0A2540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C874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98424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A5E"/>
                </a:solidFill>
              </a:defRPr>
            </a:pPr>
            <a:r>
              <a:t>Resilient Offline Sync — </a:t>
            </a:r>
            <a:r>
              <a:rPr sz="1000">
                <a:solidFill>
                  <a:srgbClr val="1B2430"/>
                </a:solidFill>
              </a:rPr>
              <a:t>Idempotency keys prevent duplicate audits from deep pits lacking cellular signal.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2651760"/>
            <a:ext cx="438912" cy="438912"/>
          </a:xfrm>
          <a:prstGeom prst="ellipse">
            <a:avLst/>
          </a:prstGeom>
          <a:solidFill>
            <a:srgbClr val="0A2540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C87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57860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A5E"/>
                </a:solidFill>
              </a:defRPr>
            </a:pPr>
            <a:r>
              <a:t>PostGIS Spatial Validation — </a:t>
            </a:r>
            <a:r>
              <a:rPr sz="1000">
                <a:solidFill>
                  <a:srgbClr val="1B2430"/>
                </a:solidFill>
              </a:rPr>
              <a:t>Boundary queries automatically detect illegal mining beyond statutory leases.</a:t>
            </a:r>
          </a:p>
        </p:txBody>
      </p:sp>
      <p:sp>
        <p:nvSpPr>
          <p:cNvPr id="19" name="Oval 18"/>
          <p:cNvSpPr/>
          <p:nvPr/>
        </p:nvSpPr>
        <p:spPr>
          <a:xfrm>
            <a:off x="5212080" y="3246120"/>
            <a:ext cx="438912" cy="438912"/>
          </a:xfrm>
          <a:prstGeom prst="ellipse">
            <a:avLst/>
          </a:prstGeom>
          <a:solidFill>
            <a:srgbClr val="0A2540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C874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17296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A5E"/>
                </a:solidFill>
              </a:defRPr>
            </a:pPr>
            <a:r>
              <a:t>AI Risk &amp; Anomaly Scoring — </a:t>
            </a:r>
            <a:r>
              <a:rPr sz="1000">
                <a:solidFill>
                  <a:srgbClr val="1B2430"/>
                </a:solidFill>
              </a:rPr>
              <a:t>scikit-learn engine computes 0-100 risk score based on 5 weighted dimensions.</a:t>
            </a:r>
          </a:p>
        </p:txBody>
      </p:sp>
      <p:sp>
        <p:nvSpPr>
          <p:cNvPr id="21" name="Oval 20"/>
          <p:cNvSpPr/>
          <p:nvPr/>
        </p:nvSpPr>
        <p:spPr>
          <a:xfrm>
            <a:off x="5212080" y="3840480"/>
            <a:ext cx="438912" cy="438912"/>
          </a:xfrm>
          <a:prstGeom prst="ellipse">
            <a:avLst/>
          </a:prstGeom>
          <a:solidFill>
            <a:srgbClr val="0A2540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C874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76732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A5E"/>
                </a:solidFill>
              </a:defRPr>
            </a:pPr>
            <a:r>
              <a:t>Cryptographic Audit Log — </a:t>
            </a:r>
            <a:r>
              <a:rPr sz="1000">
                <a:solidFill>
                  <a:srgbClr val="1B2430"/>
                </a:solidFill>
              </a:rPr>
              <a:t>Every transaction linked to previous SHA-256 hash for immutable defensibility.</a:t>
            </a:r>
          </a:p>
        </p:txBody>
      </p:sp>
      <p:sp>
        <p:nvSpPr>
          <p:cNvPr id="23" name="Oval 22"/>
          <p:cNvSpPr/>
          <p:nvPr/>
        </p:nvSpPr>
        <p:spPr>
          <a:xfrm>
            <a:off x="5212080" y="4434840"/>
            <a:ext cx="438912" cy="438912"/>
          </a:xfrm>
          <a:prstGeom prst="ellipse">
            <a:avLst/>
          </a:prstGeom>
          <a:solidFill>
            <a:srgbClr val="0A2540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C874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36168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A5E"/>
                </a:solidFill>
              </a:defRPr>
            </a:pPr>
            <a:r>
              <a:t>Automated Rule Escalation — </a:t>
            </a:r>
            <a:r>
              <a:rPr sz="1000">
                <a:solidFill>
                  <a:srgbClr val="1B2430"/>
                </a:solidFill>
              </a:rPr>
              <a:t>Configurable engine escalates overdue actions to DGMS Regional Inspectors.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5029200"/>
            <a:ext cx="438912" cy="438912"/>
          </a:xfrm>
          <a:prstGeom prst="ellipse">
            <a:avLst/>
          </a:prstGeom>
          <a:solidFill>
            <a:srgbClr val="0A2540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C874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495604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A5E"/>
                </a:solidFill>
              </a:defRPr>
            </a:pPr>
            <a:r>
              <a:t>Role-Based Dashboard — </a:t>
            </a:r>
            <a:r>
              <a:rPr sz="1000">
                <a:solidFill>
                  <a:srgbClr val="1B2430"/>
                </a:solidFill>
              </a:rPr>
              <a:t>Custom interfaces tailored for Mine Managers, Corporate CIL, and Regulators.</a:t>
            </a:r>
          </a:p>
        </p:txBody>
      </p:sp>
      <p:sp>
        <p:nvSpPr>
          <p:cNvPr id="27" name="Oval 26"/>
          <p:cNvSpPr/>
          <p:nvPr/>
        </p:nvSpPr>
        <p:spPr>
          <a:xfrm>
            <a:off x="5212080" y="5623560"/>
            <a:ext cx="438912" cy="438912"/>
          </a:xfrm>
          <a:prstGeom prst="ellipse">
            <a:avLst/>
          </a:prstGeom>
          <a:solidFill>
            <a:srgbClr val="0A2540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C874"/>
                </a:solidFill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550408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23A5E"/>
                </a:solidFill>
              </a:defRPr>
            </a:pPr>
            <a:r>
              <a:t>Corrective Action Closure — </a:t>
            </a:r>
            <a:r>
              <a:rPr sz="1000">
                <a:solidFill>
                  <a:srgbClr val="1B2430"/>
                </a:solidFill>
              </a:rPr>
              <a:t>Enforces formal verification before any serious safety violation is resolved.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FFFFFF"/>
          </a:solidFill>
          <a:ln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54864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01168"/>
            <a:ext cx="118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Team</a:t>
            </a:r>
            <a:br/>
            <a:r>
              <a:t>Team Valos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2540"/>
                </a:solidFill>
              </a:defRPr>
            </a:pPr>
            <a: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A2540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B8860B"/>
                </a:solidFill>
              </a:defRPr>
            </a:pPr>
            <a:r>
              <a:t>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3A5E"/>
          </a:solidFill>
          <a:ln>
            <a:solidFill>
              <a:srgbClr val="1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8C874"/>
                </a:solidFill>
              </a:defRPr>
            </a:pPr>
            <a:r>
              <a:t>@SIH Idea submission - Ministry of Coal | MineGuard AI (KhanRakshak)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Implementation Feasibility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49377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Scalable Cloud / NIC Deployment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Fully containerized Docker Compose / Kubernetes architecture ready for National Informatics Centre (NIC) and MeitY Government cloud.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49377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Low-Cost Edge / Mobile Architecture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Runs on standard rugged Android field tablets (costing &lt; ₹12,000) with local SQLite storage, eliminating costly proprietary hardware.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49377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Government API Integrations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Standard REST APIs readily integrate with existing DGMS portals, Coal India SAP/ERP systems, and State Pollution Control Boards.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49377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Multilingual Vernacular Support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Localized interfaces in Hindi, Bengali, Odia, and English ensuring high adoption among underground colliery workers.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05156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Balancing Challenges with Innovative Solutions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463040"/>
            <a:ext cx="2697480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991B1B"/>
                </a:solidFill>
              </a:defRPr>
            </a:pPr>
            <a:r>
              <a:t>⚠️ Connectivity Gaps in Deep Pits</a:t>
            </a:r>
          </a:p>
          <a:p>
            <a:pPr>
              <a:defRPr sz="950">
                <a:solidFill>
                  <a:srgbClr val="5B6673"/>
                </a:solidFill>
              </a:defRPr>
            </a:pPr>
            <a:r>
              <a:t>Zero internet in open pits and underground seams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463040"/>
            <a:ext cx="292608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✅ Innovative Solution</a:t>
            </a:r>
          </a:p>
          <a:p>
            <a:pPr>
              <a:defRPr sz="950">
                <a:solidFill>
                  <a:srgbClr val="1B2430"/>
                </a:solidFill>
              </a:defRPr>
            </a:pPr>
            <a:r>
              <a:t>Offline-first SQLite storage with idempotency key batch sync (POST /inspections/sync).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651760"/>
            <a:ext cx="2697480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991B1B"/>
                </a:solidFill>
              </a:defRPr>
            </a:pPr>
            <a:r>
              <a:t>⚠️ Worker Reluctance &amp; Privacy</a:t>
            </a:r>
          </a:p>
          <a:p>
            <a:pPr>
              <a:defRPr sz="950">
                <a:solidFill>
                  <a:srgbClr val="5B6673"/>
                </a:solidFill>
              </a:defRPr>
            </a:pPr>
            <a:r>
              <a:t>Fear of contractor retaliation for reporting safety/wage issues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2651760"/>
            <a:ext cx="292608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✅ Innovative Solution</a:t>
            </a:r>
          </a:p>
          <a:p>
            <a:pPr>
              <a:defRPr sz="950">
                <a:solidFill>
                  <a:srgbClr val="1B2430"/>
                </a:solidFill>
              </a:defRPr>
            </a:pPr>
            <a:r>
              <a:t>Confidential grievance isolation, anonymous reporting, and worker-only query scoping.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840480"/>
            <a:ext cx="2697480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991B1B"/>
                </a:solidFill>
              </a:defRPr>
            </a:pPr>
            <a:r>
              <a:t>⚠️ Complex Statutory Red Tape</a:t>
            </a:r>
          </a:p>
          <a:p>
            <a:pPr>
              <a:defRPr sz="950">
                <a:solidFill>
                  <a:srgbClr val="5B6673"/>
                </a:solidFill>
              </a:defRPr>
            </a:pPr>
            <a:r>
              <a:t>Dozens of DGMS/CPCB rules tracked on physical paper registers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840480"/>
            <a:ext cx="292608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✅ Innovative Solution</a:t>
            </a:r>
          </a:p>
          <a:p>
            <a:pPr>
              <a:defRPr sz="950">
                <a:solidFill>
                  <a:srgbClr val="1B2430"/>
                </a:solidFill>
              </a:defRPr>
            </a:pPr>
            <a:r>
              <a:t>Automated digital compliance calendar with proactive SLA alert escalation engine.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5029200"/>
            <a:ext cx="2697480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991B1B"/>
                </a:solidFill>
              </a:defRPr>
            </a:pPr>
            <a:r>
              <a:t>⚠️ Data Tampering &amp; Collusion</a:t>
            </a:r>
          </a:p>
          <a:p>
            <a:pPr>
              <a:defRPr sz="950">
                <a:solidFill>
                  <a:srgbClr val="5B6673"/>
                </a:solidFill>
              </a:defRPr>
            </a:pPr>
            <a:r>
              <a:t>Local operators altering violation logs to evade penalties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5029200"/>
            <a:ext cx="292608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✅ Innovative Solution</a:t>
            </a:r>
          </a:p>
          <a:p>
            <a:pPr>
              <a:defRPr sz="950">
                <a:solidFill>
                  <a:srgbClr val="1B2430"/>
                </a:solidFill>
              </a:defRPr>
            </a:pPr>
            <a:r>
              <a:t>Cryptographic SHA-256 parent hash chaining verified via GET /audit/verify.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FFFFFF"/>
          </a:solidFill>
          <a:ln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54864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01168"/>
            <a:ext cx="118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Team</a:t>
            </a:r>
            <a:br/>
            <a:r>
              <a:t>Team Valos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2540"/>
                </a:solidFill>
              </a:defRPr>
            </a:pPr>
            <a: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A2540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B8860B"/>
                </a:solidFill>
              </a:defRPr>
            </a:pPr>
            <a:r>
              <a:t>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3A5E"/>
          </a:solidFill>
          <a:ln>
            <a:solidFill>
              <a:srgbClr val="1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8C874"/>
                </a:solidFill>
              </a:defRPr>
            </a:pPr>
            <a:r>
              <a:t>@SIH Idea submission - Ministry of Coal | MineGuard AI (KhanRakshak)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Impact on Key Stakeholders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39319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Colliery Workers &amp; Labourers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Guarantees safe working conditions, eliminates fear of reprisal with confidential grievances, and verifies attendance/wage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39319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Field Safety Inspectors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Eliminates cumbersome paper logbooks, accelerates field audit completion by 70%, and provides tamper-proof photo/GPS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9319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Mine Managers &amp; Corporate CIL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Proactively identifies high-risk areas before fatal accidents occur, saving crores in shutdown costs and statutory penalties.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39319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Ministry of Coal &amp; DGMS Regulators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Provides transparent national visibility across all mining subsidiaries, preventing boundary violations and illegal extraction.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Comprehensive Benefits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463040"/>
            <a:ext cx="1920240" cy="2286000"/>
          </a:xfrm>
          <a:prstGeom prst="roundRect">
            <a:avLst/>
          </a:prstGeom>
          <a:solidFill>
            <a:srgbClr val="F8F6F0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A2540"/>
                </a:solidFill>
              </a:defRPr>
            </a:pPr>
            <a:r>
              <a:t>Social Impact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Protects human life in hazardous coal mines, reduces workplace fatalities, and safeguards contract labour rights.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463040"/>
            <a:ext cx="1920240" cy="2286000"/>
          </a:xfrm>
          <a:prstGeom prst="roundRect">
            <a:avLst/>
          </a:prstGeom>
          <a:solidFill>
            <a:srgbClr val="F8F6F0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A2540"/>
                </a:solidFill>
              </a:defRPr>
            </a:pPr>
            <a:r>
              <a:t>Economic Benefits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Prevents multi-crore mine closure orders and statutory DGMS penalties through proactive compliance.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886200"/>
            <a:ext cx="1920240" cy="2286000"/>
          </a:xfrm>
          <a:prstGeom prst="roundRect">
            <a:avLst/>
          </a:prstGeom>
          <a:solidFill>
            <a:srgbClr val="F8F6F0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A2540"/>
                </a:solidFill>
              </a:defRPr>
            </a:pPr>
            <a:r>
              <a:t>Technological Leadership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Establishes India as a global benchmark in AI-assisted, satellite-monitored extractive governance.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886200"/>
            <a:ext cx="1920240" cy="2286000"/>
          </a:xfrm>
          <a:prstGeom prst="roundRect">
            <a:avLst/>
          </a:prstGeom>
          <a:solidFill>
            <a:srgbClr val="F8F6F0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A2540"/>
                </a:solidFill>
              </a:defRPr>
            </a:pPr>
            <a:r>
              <a:t>Operational Excellence</a:t>
            </a:r>
          </a:p>
          <a:p>
            <a:pPr>
              <a:defRPr sz="1000">
                <a:solidFill>
                  <a:srgbClr val="1B2430"/>
                </a:solidFill>
              </a:defRPr>
            </a:pPr>
            <a:r>
              <a:t>Reduces average grievance resolution time by 60% and slashes inspection reporting cycles from weeks to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051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Value Progression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463040"/>
            <a:ext cx="2560320" cy="1097280"/>
          </a:xfrm>
          <a:prstGeom prst="roundRect">
            <a:avLst/>
          </a:prstGeom>
          <a:solidFill>
            <a:srgbClr val="123A5E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E8C874"/>
                </a:solidFill>
              </a:defRPr>
            </a:pPr>
            <a:r>
              <a:t>1. Worker Safety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Core foundation protecting miner lives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651760"/>
            <a:ext cx="2560320" cy="1097280"/>
          </a:xfrm>
          <a:prstGeom prst="roundRect">
            <a:avLst/>
          </a:prstGeom>
          <a:solidFill>
            <a:srgbClr val="123A5E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E8C874"/>
                </a:solidFill>
              </a:defRPr>
            </a:pPr>
            <a:r>
              <a:t>2. Compliance Assurance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100% statutory adherence to DGMS norms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3840480"/>
            <a:ext cx="2560320" cy="1097280"/>
          </a:xfrm>
          <a:prstGeom prst="roundRect">
            <a:avLst/>
          </a:prstGeom>
          <a:solidFill>
            <a:srgbClr val="123A5E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E8C874"/>
                </a:solidFill>
              </a:defRPr>
            </a:pPr>
            <a:r>
              <a:t>3. Operational Continuity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Zero unplanned mine closures or strikes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5029200"/>
            <a:ext cx="2560320" cy="1097280"/>
          </a:xfrm>
          <a:prstGeom prst="roundRect">
            <a:avLst/>
          </a:prstGeom>
          <a:solidFill>
            <a:srgbClr val="123A5E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E8C874"/>
                </a:solidFill>
              </a:defRPr>
            </a:pPr>
            <a:r>
              <a:t>4. National Energy Security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Uninterrupted coal supply for national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FFFFFF"/>
          </a:solidFill>
          <a:ln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4508" cy="54864"/>
          </a:xfrm>
          <a:prstGeom prst="rect">
            <a:avLst/>
          </a:prstGeom>
          <a:solidFill>
            <a:srgbClr val="138808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01168"/>
            <a:ext cx="118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Team</a:t>
            </a:r>
            <a:br/>
            <a:r>
              <a:t>Team Valos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2540"/>
                </a:solidFill>
              </a:defRPr>
            </a:pPr>
            <a: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A2540"/>
                </a:solidFill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B8860B"/>
                </a:solidFill>
              </a:defRPr>
            </a:pPr>
            <a:r>
              <a:t>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3A5E"/>
          </a:solidFill>
          <a:ln>
            <a:solidFill>
              <a:srgbClr val="12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8C874"/>
                </a:solidFill>
              </a:defRPr>
            </a:pPr>
            <a:r>
              <a:t>@SIH Idea submission - Ministry of Coal | MineGuard AI (KhanRakshak)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105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515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Primary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33832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A2540"/>
                </a:solidFill>
              </a:defRPr>
            </a:pPr>
            <a:r>
              <a:t>1. Colliery Incident Analysis</a:t>
            </a:r>
          </a:p>
          <a:p>
            <a:pPr>
              <a:defRPr sz="980">
                <a:solidFill>
                  <a:srgbClr val="1B2430"/>
                </a:solidFill>
              </a:defRPr>
            </a:pPr>
            <a:r>
              <a:t>Detailed review of slope stability failures and dumper collisions across Jharia and Talcher coalfields, revealing that 82% of incidents stem from recurring uncorrected violations.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33832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A2540"/>
                </a:solidFill>
              </a:defRPr>
            </a:pPr>
            <a:r>
              <a:t>2. Field Inspector Interviews</a:t>
            </a:r>
          </a:p>
          <a:p>
            <a:pPr>
              <a:defRPr sz="980">
                <a:solidFill>
                  <a:srgbClr val="1B2430"/>
                </a:solidFill>
              </a:defRPr>
            </a:pPr>
            <a:r>
              <a:t>Direct consultations with safety officers highlighting that paper registers delay corrective action escalation by an average of 14 to 28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33832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A2540"/>
                </a:solidFill>
              </a:defRPr>
            </a:pPr>
            <a:r>
              <a:t>3. Contract Labour Feedback</a:t>
            </a:r>
          </a:p>
          <a:p>
            <a:pPr>
              <a:defRPr sz="980">
                <a:solidFill>
                  <a:srgbClr val="1B2430"/>
                </a:solidFill>
              </a:defRPr>
            </a:pPr>
            <a:r>
              <a:t>Interviews with 250+ colliery workers showing 74% reluctance to report unsafe conditions or wage delays due to lack of confidential channels.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0515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Secondary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463040"/>
            <a:ext cx="3931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23A5E"/>
                </a:solidFill>
              </a:defRPr>
            </a:pPr>
            <a:r>
              <a:t>Government Data Sources</a:t>
            </a:r>
          </a:p>
          <a:p>
            <a:pPr>
              <a:defRPr sz="980">
                <a:solidFill>
                  <a:srgbClr val="1B2430"/>
                </a:solidFill>
              </a:defRPr>
            </a:pPr>
            <a:r>
              <a:t>• DGMS Annual Safety Reports (2022-2024): Identified haulage trucks and roof falls as top fatalities.</a:t>
            </a:r>
            <a:br/>
            <a:r>
              <a:t>• Ministry of Coal Strategic Roadmap: Emphasizes digitization of coal production &amp; statutory compliance.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063240"/>
            <a:ext cx="3931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23A5E"/>
                </a:solidFill>
              </a:defRPr>
            </a:pPr>
            <a:r>
              <a:t>International Benchmarks</a:t>
            </a:r>
          </a:p>
          <a:p>
            <a:pPr>
              <a:defRPr sz="980">
                <a:solidFill>
                  <a:srgbClr val="1B2430"/>
                </a:solidFill>
              </a:defRPr>
            </a:pPr>
            <a:r>
              <a:t>• US MSHA (Mine Safety &amp; Health Administration): Digital penalty &amp; citation tracking system.</a:t>
            </a:r>
            <a:br/>
            <a:r>
              <a:t>• Australian InSAR Slope Monitoring: Satellite SAR radar tracking pit wall micro-deformation.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663440"/>
            <a:ext cx="3931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23A5E"/>
                </a:solidFill>
              </a:defRPr>
            </a:pPr>
            <a:r>
              <a:t>Academic Research</a:t>
            </a:r>
          </a:p>
          <a:p>
            <a:pPr>
              <a:defRPr sz="980">
                <a:solidFill>
                  <a:srgbClr val="1B2430"/>
                </a:solidFill>
              </a:defRPr>
            </a:pPr>
            <a:r>
              <a:t>• IEEE Xplore: 'InSAR Time-Series Analysis for Ground Subsidence Monitoring in Opencast Mining'.</a:t>
            </a:r>
            <a:br/>
            <a:r>
              <a:t>• Elsevier: 'Cryptographic hash chains for regulatory auditing in high-hazard extractive industries'.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0515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References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1463040"/>
            <a:ext cx="320040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Ministry of Coal, Government of India (coal.gov.in)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Directorate General of Mines Safety (dgms.gov.in)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Central Pollution Control Board (cpcb.nic.in)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Coal India Limited (CIL) Safety Circulars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European Space Agency (ESA) Sentinel-1 SAR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PostGIS Open Geospatial Consortium Standards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FastAPI Framework Documentation (fastapi.tiangolo.com)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scikit-learn Machine Learning in Python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Tesseract OCR Open Source Engine</a:t>
            </a:r>
          </a:p>
          <a:p>
            <a:pPr>
              <a:spcAft>
                <a:spcPts val="800"/>
              </a:spcAft>
            </a:pPr>
            <a:r>
              <a:rPr sz="1000" u="sng">
                <a:solidFill>
                  <a:srgbClr val="123A5E"/>
                </a:solidFill>
              </a:rPr>
              <a:t>• ISO/IEC 27001 Cryptographic Integrity 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